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2071cb8e784464" /><Relationship Type="http://schemas.openxmlformats.org/officeDocument/2006/relationships/extended-properties" Target="/docProps/app.xml" Id="Rb6ff42aa97eb43d3" /><Relationship Type="http://schemas.openxmlformats.org/officeDocument/2006/relationships/officeDocument" Target="/ppt/presentation.xml" Id="Rbc9309ab94dd48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d7c04c50384ed6"/>
  </p:sldMasterIdLst>
  <p:notesMasterIdLst>
    <p:notesMasterId xmlns:r="http://schemas.openxmlformats.org/officeDocument/2006/relationships" r:id="R265859bfe0714f1c"/>
  </p:notesMasterIdLst>
  <p:sldIdLst>
    <p:sldId xmlns:r="http://schemas.openxmlformats.org/officeDocument/2006/relationships" id="256" r:id="R327d5379cc404a6a"/>
    <p:sldId xmlns:r="http://schemas.openxmlformats.org/officeDocument/2006/relationships" id="257" r:id="Rb220354b90454c87"/>
    <p:sldId xmlns:r="http://schemas.openxmlformats.org/officeDocument/2006/relationships" id="258" r:id="R476abb175f8f4c3a"/>
    <p:sldId xmlns:r="http://schemas.openxmlformats.org/officeDocument/2006/relationships" id="259" r:id="Rcc519b71b566441e"/>
    <p:sldId xmlns:r="http://schemas.openxmlformats.org/officeDocument/2006/relationships" id="260" r:id="R6abc4e3079334330"/>
    <p:sldId xmlns:r="http://schemas.openxmlformats.org/officeDocument/2006/relationships" id="261" r:id="R169efa4dd1114d0f"/>
    <p:sldId xmlns:r="http://schemas.openxmlformats.org/officeDocument/2006/relationships" id="262" r:id="Rf6b8e8b12f5a4bec"/>
    <p:sldId xmlns:r="http://schemas.openxmlformats.org/officeDocument/2006/relationships" id="263" r:id="Rd4e33fb799944d66"/>
    <p:sldId xmlns:r="http://schemas.openxmlformats.org/officeDocument/2006/relationships" id="264" r:id="R01fe35634b034b5d"/>
    <p:sldId xmlns:r="http://schemas.openxmlformats.org/officeDocument/2006/relationships" id="265" r:id="Rb1a85f7e1f6442fe"/>
    <p:sldId xmlns:r="http://schemas.openxmlformats.org/officeDocument/2006/relationships" id="266" r:id="Rf33c0dff8a0e430a"/>
    <p:sldId xmlns:r="http://schemas.openxmlformats.org/officeDocument/2006/relationships" id="267" r:id="R5b2be75f18134f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1034e9f9d04d1f" /><Relationship Type="http://schemas.openxmlformats.org/officeDocument/2006/relationships/slideMaster" Target="/ppt/slideMasters/slideMaster1.xml" Id="R98d7c04c50384ed6" /><Relationship Type="http://schemas.openxmlformats.org/officeDocument/2006/relationships/notesMaster" Target="/ppt/notesMasters/notesMaster1.xml" Id="R265859bfe0714f1c" /><Relationship Type="http://schemas.openxmlformats.org/officeDocument/2006/relationships/presProps" Target="/ppt/presProps.xml" Id="Rd7a4f981409c4d5e" /><Relationship Type="http://schemas.openxmlformats.org/officeDocument/2006/relationships/tableStyles" Target="/ppt/tableStyles.xml" Id="R0c9922644e72409e" /><Relationship Type="http://schemas.openxmlformats.org/officeDocument/2006/relationships/slide" Target="/ppt/slides/slide1.xml" Id="R327d5379cc404a6a" /><Relationship Type="http://schemas.openxmlformats.org/officeDocument/2006/relationships/slide" Target="/ppt/slides/slide2.xml" Id="Rb220354b90454c87" /><Relationship Type="http://schemas.openxmlformats.org/officeDocument/2006/relationships/slide" Target="/ppt/slides/slide3.xml" Id="R476abb175f8f4c3a" /><Relationship Type="http://schemas.openxmlformats.org/officeDocument/2006/relationships/slide" Target="/ppt/slides/slide4.xml" Id="Rcc519b71b566441e" /><Relationship Type="http://schemas.openxmlformats.org/officeDocument/2006/relationships/slide" Target="/ppt/slides/slide5.xml" Id="R6abc4e3079334330" /><Relationship Type="http://schemas.openxmlformats.org/officeDocument/2006/relationships/slide" Target="/ppt/slides/slide6.xml" Id="R169efa4dd1114d0f" /><Relationship Type="http://schemas.openxmlformats.org/officeDocument/2006/relationships/slide" Target="/ppt/slides/slide7.xml" Id="Rf6b8e8b12f5a4bec" /><Relationship Type="http://schemas.openxmlformats.org/officeDocument/2006/relationships/slide" Target="/ppt/slides/slide8.xml" Id="Rd4e33fb799944d66" /><Relationship Type="http://schemas.openxmlformats.org/officeDocument/2006/relationships/slide" Target="/ppt/slides/slide9.xml" Id="R01fe35634b034b5d" /><Relationship Type="http://schemas.openxmlformats.org/officeDocument/2006/relationships/slide" Target="/ppt/slides/slide10.xml" Id="Rb1a85f7e1f6442fe" /><Relationship Type="http://schemas.openxmlformats.org/officeDocument/2006/relationships/slide" Target="/ppt/slides/slide11.xml" Id="Rf33c0dff8a0e430a" /><Relationship Type="http://schemas.openxmlformats.org/officeDocument/2006/relationships/slide" Target="/ppt/slides/slide12.xml" Id="R5b2be75f18134f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39173d4a0f46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0c9062bdf446fd" /><Relationship Type="http://schemas.openxmlformats.org/officeDocument/2006/relationships/notesMaster" Target="/ppt/notesMasters/notesMaster1.xml" Id="Ra9150331aaaf41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1be40d96464b23" /><Relationship Type="http://schemas.openxmlformats.org/officeDocument/2006/relationships/notesMaster" Target="/ppt/notesMasters/notesMaster1.xml" Id="Rd493e31be8664d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d3ea5fcc5e453c" /><Relationship Type="http://schemas.openxmlformats.org/officeDocument/2006/relationships/notesMaster" Target="/ppt/notesMasters/notesMaster1.xml" Id="R3028154fee0043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357f6fcfeb40b1" /><Relationship Type="http://schemas.openxmlformats.org/officeDocument/2006/relationships/notesMaster" Target="/ppt/notesMasters/notesMaster1.xml" Id="R8ff948867d5b4d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37a39acfed4414" /><Relationship Type="http://schemas.openxmlformats.org/officeDocument/2006/relationships/notesMaster" Target="/ppt/notesMasters/notesMaster1.xml" Id="Rc7a361bef79342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ac20a4dbc548a6" /><Relationship Type="http://schemas.openxmlformats.org/officeDocument/2006/relationships/notesMaster" Target="/ppt/notesMasters/notesMaster1.xml" Id="R2ace0f773f2047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bc28c89a2a4bc6" /><Relationship Type="http://schemas.openxmlformats.org/officeDocument/2006/relationships/notesMaster" Target="/ppt/notesMasters/notesMaster1.xml" Id="R99c6f70f896943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b9736eec7e4db5" /><Relationship Type="http://schemas.openxmlformats.org/officeDocument/2006/relationships/notesMaster" Target="/ppt/notesMasters/notesMaster1.xml" Id="R286b0c6feda946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5473abcf8347c6" /><Relationship Type="http://schemas.openxmlformats.org/officeDocument/2006/relationships/notesMaster" Target="/ppt/notesMasters/notesMaster1.xml" Id="R1f69d699990741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439d476f06478f" /><Relationship Type="http://schemas.openxmlformats.org/officeDocument/2006/relationships/notesMaster" Target="/ppt/notesMasters/notesMaster1.xml" Id="Rdb6bc393c2cf4a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34ab6f036642a7" /><Relationship Type="http://schemas.openxmlformats.org/officeDocument/2006/relationships/notesMaster" Target="/ppt/notesMasters/notesMaster1.xml" Id="Rd4c8a2451f0f4b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f8eae8b7534043" /><Relationship Type="http://schemas.openxmlformats.org/officeDocument/2006/relationships/notesMaster" Target="/ppt/notesMasters/notesMaster1.xml" Id="R73c6bb06dbf946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Ouverture — LabelScan transforme l’étiquette d’arrivage en donnée exploitable, sans retirer l’humain du processus.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Situation d’ouverture : pendant la recherche, le produit peut encore être exposé. Enjeu sanitaire, financier et réputationnel.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processus papier rend la preuve disponible, mais la recherche et le pilotage restent manuels.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Démonstration : photo, lecture GS1 lorsqu’il existe, OCR, IA qui structure, contrôle des incertitudes,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Visuel de l’interface fournie. Les essais montrent 12 à 14 champs préremplis sur 17 ; l’utilisateur garde la main sur les exceptions.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Trois utilisateurs, trois niveaux de valeur : geste opérationnel, décision magasin, et standardisation enseigne.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Reprendre l’alerte initiale. Insister : le bénéfice critique n’est pas seulement la saisie, mais le délai alerte → mise en sécurité.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Quatre principes uniquement. Ne pas promettre une IA infaillible : rendre l’incertitude visible et concentrer l’humain sur les exceptions.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Résultats observés et simulation séparés. Latence dépendante du réseau : mesurer médiane, P95 et pire cas pendant le pilote.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Règlement (CE) n° 178/2002, art. 18 : https://eur-lex.europa.eu/eli/reg/2002/178/oj?locale=fr</a:t>
            </a:r>
          </a:p>
          <a:p xmlns:a="http://schemas.openxmlformats.org/drawingml/2006/main">
            <a:r>
              <a:t>- Règlement (UE) n° 1379/2013 : https://eur-lex.europa.eu/eli/reg/2013/1379/oj/eng</a:t>
            </a:r>
          </a:p>
          <a:p xmlns:a="http://schemas.openxmlformats.org/drawingml/2006/main">
            <a:r>
              <a:t>- GS1, transition vers codes 2D 2027 : https://support.gs1.org/support/solutions/articles/43000743505-why-is-the-goal-to-transition-to-2d-barcodes-by-2027-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Demande concrète : pilote de quatre semaines sur deux magasins, avec plusieurs fournisseurs et protocole avant/après.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: LabelScan répond au besoin de l’employé, du directeur et de l’enseigne. Terminer sur la proposition de pilote.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8173751cbc49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3e9089f2d646e4" /><Relationship Type="http://schemas.openxmlformats.org/officeDocument/2006/relationships/slideLayout" Target="/ppt/slideLayouts/slideLayout1.xml" Id="Rdbef3664d89446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ef3664d89446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5b3399f0442f1" /><Relationship Type="http://schemas.openxmlformats.org/officeDocument/2006/relationships/image" Target="/ppt/media/image.png" Id="Ra4ad091f981b46c9" /><Relationship Type="http://schemas.openxmlformats.org/officeDocument/2006/relationships/notesSlide" Target="/ppt/notesSlides/notesSlide1.xml" Id="R5199f5e263f84d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ba88ce4174151" /><Relationship Type="http://schemas.openxmlformats.org/officeDocument/2006/relationships/image" Target="/ppt/media/image.jpeg" Id="R9ae7389f5fc54bbe" /><Relationship Type="http://schemas.openxmlformats.org/officeDocument/2006/relationships/notesSlide" Target="/ppt/notesSlides/notesSlide2.xml" Id="R7f11058531cc44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b5409597d4da4" /><Relationship Type="http://schemas.openxmlformats.org/officeDocument/2006/relationships/notesSlide" Target="/ppt/notesSlides/notesSlide3.xml" Id="R26aa3ef5382043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9164afd454c69" /><Relationship Type="http://schemas.openxmlformats.org/officeDocument/2006/relationships/image" Target="/ppt/media/image2.jpeg" Id="R9bae2660fbc442af" /><Relationship Type="http://schemas.openxmlformats.org/officeDocument/2006/relationships/notesSlide" Target="/ppt/notesSlides/notesSlide4.xml" Id="Ra1f1928823e140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206bf75664f0c" /><Relationship Type="http://schemas.openxmlformats.org/officeDocument/2006/relationships/image" Target="/ppt/media/image2.png" Id="Ra79b3c5add08400c" /><Relationship Type="http://schemas.openxmlformats.org/officeDocument/2006/relationships/notesSlide" Target="/ppt/notesSlides/notesSlide5.xml" Id="Rc779e639771c40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44d8acae342ec" /><Relationship Type="http://schemas.openxmlformats.org/officeDocument/2006/relationships/notesSlide" Target="/ppt/notesSlides/notesSlide6.xml" Id="R20364fb685fd44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57ebaf9d34ef9" /><Relationship Type="http://schemas.openxmlformats.org/officeDocument/2006/relationships/notesSlide" Target="/ppt/notesSlides/notesSlide7.xml" Id="Rc87249b25c8640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f87aa5f9044f5" /><Relationship Type="http://schemas.openxmlformats.org/officeDocument/2006/relationships/notesSlide" Target="/ppt/notesSlides/notesSlide8.xml" Id="R77bdc1d8580f46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4131be8a348d3" /><Relationship Type="http://schemas.openxmlformats.org/officeDocument/2006/relationships/notesSlide" Target="/ppt/notesSlides/notesSlide9.xml" Id="R70eaab38940d43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42aba2d6f4a28" /><Relationship Type="http://schemas.openxmlformats.org/officeDocument/2006/relationships/notesSlide" Target="/ppt/notesSlides/notesSlide10.xml" Id="R15235f799c8442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48d369b9848a8" /><Relationship Type="http://schemas.openxmlformats.org/officeDocument/2006/relationships/notesSlide" Target="/ppt/notesSlides/notesSlide11.xml" Id="Rfb2f2ba2ab0b42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d9d6cc3d942ce" /><Relationship Type="http://schemas.openxmlformats.org/officeDocument/2006/relationships/image" Target="/ppt/media/image3.png" Id="R43949f8bada541c4" /><Relationship Type="http://schemas.openxmlformats.org/officeDocument/2006/relationships/notesSlide" Target="/ppt/notesSlides/notesSlide12.xml" Id="R314456ac559646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D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d091f981b46c9"/>
          <a:stretch xmlns:a="http://schemas.openxmlformats.org/drawingml/2006/main"/>
        </p:blipFill>
        <p:spPr>
          <a:xfrm xmlns:a="http://schemas.openxmlformats.org/drawingml/2006/main">
            <a:off x="723900" y="647700"/>
            <a:ext cx="1123950" cy="1123950"/>
          </a:xfrm>
          <a:prstGeom xmlns:a="http://schemas.openxmlformats.org/drawingml/2006/main" prst="roundRect">
            <a:avLst>
              <a:gd name="adj" fmla="val 135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15B55-5AD1-4961-ABB9-98E2740E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LabelScan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68BC5-61FA-464A-8348-F67418C4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8E5DD"/>
                </a:solidFill>
              </a:defRPr>
            </a:pPr>
            <a:r>
              <a:rPr sz="2175" b="0">
                <a:solidFill>
                  <a:srgbClr val="C8E5DD"/>
                </a:solidFill>
              </a:rPr>
              <a:t>La traçabilité qui accélère la mise en sécurité.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AEEFF-E8AA-402A-B427-0505EB56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257175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078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44CC2-0311-4370-B54A-CD8B3E4A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2238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PITCH JURY · 10 MINUTES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34114-2B15-49AE-8638-92E93AC9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435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3B6AC"/>
                </a:solidFill>
              </a:defRPr>
            </a:pPr>
            <a:r>
              <a:rPr sz="1350" b="0">
                <a:solidFill>
                  <a:srgbClr val="93B6AC"/>
                </a:solidFill>
              </a:rPr>
              <a:t>Photographier. Structurer. Retrouver.</a:t>
            </a:r>
          </a:p>
        </p:txBody>
      </p:sp>
    </p:spTree>
    <p:extLst>
      <p:ext uri="{BB962C8B-B14F-4D97-AF65-F5344CB8AC3E}">
        <p14:creationId xmlns:p14="http://schemas.microsoft.com/office/powerpoint/2010/main" val="18725100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5D3CB-0621-492C-8C59-6A663252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879"/>
                </a:solidFill>
              </a:defRPr>
            </a:pPr>
            <a:r>
              <a:rPr sz="1125" b="1">
                <a:solidFill>
                  <a:srgbClr val="078879"/>
                </a:solidFill>
              </a:rPr>
              <a:t>L’ALERTE SANITAIRE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0AD64-85CC-4EC1-8252-D81E3596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D69"/>
                </a:solidFill>
              </a:defRPr>
            </a:pPr>
            <a:r>
              <a:rPr sz="1125" b="1">
                <a:solidFill>
                  <a:srgbClr val="5D6D69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35789-3E33-4577-9F13-1EA261C4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620"/>
                </a:solidFill>
              </a:defRPr>
            </a:pPr>
            <a:r>
              <a:rPr sz="2400" b="1">
                <a:solidFill>
                  <a:srgbClr val="102620"/>
                </a:solidFill>
              </a:rPr>
              <a:t>10 h 15. Un lot de saumon est suspect.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7BCD5-C20B-407D-88D8-EFB3B287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D69"/>
                </a:solidFill>
              </a:defRPr>
            </a:pPr>
            <a:r>
              <a:rPr sz="1500" b="0">
                <a:solidFill>
                  <a:srgbClr val="5D6D69"/>
                </a:solidFill>
              </a:rPr>
              <a:t>Le directeur doit savoir immédiatement si ce lot est entré dans son magasin.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7389f5fc54bbe"/>
          <a:srcRect xmlns:a="http://schemas.openxmlformats.org/drawingml/2006/main" l="0" t="4085" r="0" b="40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2850" y="857250"/>
            <a:ext cx="3905250" cy="47815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3A987-5E84-42F8-9C2E-F43F9421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590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620"/>
                </a:solidFill>
              </a:defRPr>
            </a:pPr>
            <a:r>
              <a:rPr sz="1875" b="0">
                <a:solidFill>
                  <a:srgbClr val="102620"/>
                </a:solidFill>
              </a:rPr>
              <a:t>Aujourd’hui, il faut parfois retrouver des étiquettes décollées, séchées, collées dans des cahiers ou classées dans plusieurs dossiers.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7D6CF-3EE0-48D5-8893-05110766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5810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C2047-A65E-4146-841F-9BC4EF8E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523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F3A30"/>
                </a:solidFill>
              </a:defRPr>
            </a:pPr>
            <a:r>
              <a:rPr sz="2025" b="1">
                <a:solidFill>
                  <a:srgbClr val="BF3A30"/>
                </a:solidFill>
              </a:rPr>
              <a:t>Combien de temps faut-il</a:t>
            </a:r>
          </a:p>
          <a:p xmlns:a="http://schemas.openxmlformats.org/drawingml/2006/main">
            <a:pPr algn="l">
              <a:defRPr sz="2025" b="1">
                <a:solidFill>
                  <a:srgbClr val="BF3A30"/>
                </a:solidFill>
              </a:defRPr>
            </a:pPr>
            <a:r>
              <a:rPr sz="2025" b="1">
                <a:solidFill>
                  <a:srgbClr val="BF3A30"/>
                </a:solidFill>
              </a:rPr>
              <a:t>pour retrouver un lot précis 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D5A0B-0E07-4F0F-8368-FA4F9001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9E5D2-DDD5-40B4-8A2B-4B0A746A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D69"/>
                </a:solidFill>
              </a:defRPr>
            </a:pPr>
            <a:r>
              <a:rPr sz="900" b="0">
                <a:solidFill>
                  <a:srgbClr val="5D6D69"/>
                </a:solidFill>
              </a:rPr>
              <a:t>LabelScan · Traçabilité alimentaire</a:t>
            </a:r>
          </a:p>
        </p:txBody>
      </p:sp>
    </p:spTree>
    <p:extLst>
      <p:ext uri="{BB962C8B-B14F-4D97-AF65-F5344CB8AC3E}">
        <p14:creationId xmlns:p14="http://schemas.microsoft.com/office/powerpoint/2010/main" val="20276882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05EBF7-C68D-4586-8D16-4AE73EF3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879"/>
                </a:solidFill>
              </a:defRPr>
            </a:pPr>
            <a:r>
              <a:rPr sz="1125" b="1">
                <a:solidFill>
                  <a:srgbClr val="078879"/>
                </a:solidFill>
              </a:rPr>
              <a:t>LE CAHIER PAPIER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E0117-0B7D-493C-B94B-09DB06C5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D69"/>
                </a:solidFill>
              </a:defRPr>
            </a:pPr>
            <a:r>
              <a:rPr sz="1125" b="1">
                <a:solidFill>
                  <a:srgbClr val="5D6D69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7FCF7-4CF1-4D82-8C32-92EBB23F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620"/>
                </a:solidFill>
              </a:defRPr>
            </a:pPr>
            <a:r>
              <a:rPr sz="3000" b="1">
                <a:solidFill>
                  <a:srgbClr val="102620"/>
                </a:solidFill>
              </a:rPr>
              <a:t>Le papier archive. Il ne permet pas de réagir.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EA61C-CED4-4182-89DF-3D476F71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428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5F8F7"/>
          </a:solidFill>
          <a:ln xmlns:a="http://schemas.openxmlformats.org/drawingml/2006/main" w="9525">
            <a:solidFill>
              <a:srgbClr val="C9D8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1B629-C893-40CD-9BB4-173B0A93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8879"/>
                </a:solidFill>
              </a:defRPr>
            </a:pPr>
            <a:r>
              <a:rPr sz="975" b="1">
                <a:solidFill>
                  <a:srgbClr val="078879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F176C-8AC8-4D81-A64A-FCCF1622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620"/>
                </a:solidFill>
              </a:defRPr>
            </a:pPr>
            <a:r>
              <a:rPr sz="1650" b="1">
                <a:solidFill>
                  <a:srgbClr val="102620"/>
                </a:solidFill>
              </a:rPr>
              <a:t>Décoller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BB788-D414-4410-AD28-AD2969A1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908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88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59CB7-E257-480E-A478-191EF537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81250"/>
            <a:ext cx="1428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5F8F7"/>
          </a:solidFill>
          <a:ln xmlns:a="http://schemas.openxmlformats.org/drawingml/2006/main" w="9525">
            <a:solidFill>
              <a:srgbClr val="C9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1DD7D-8F4F-46C7-9C1E-AFF8BE9C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7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8879"/>
                </a:solidFill>
              </a:defRPr>
            </a:pPr>
            <a:r>
              <a:rPr sz="975" b="1">
                <a:solidFill>
                  <a:srgbClr val="07887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5063E-E5D6-4BC6-A470-F1CF1C55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765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620"/>
                </a:solidFill>
              </a:defRPr>
            </a:pPr>
            <a:r>
              <a:rPr sz="1650" b="1">
                <a:solidFill>
                  <a:srgbClr val="102620"/>
                </a:solidFill>
              </a:rPr>
              <a:t>Séchage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24010-9AE8-460E-B0EE-CA9B668D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908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88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9B2C3-6453-4537-8957-561734C2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1428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5F8F7"/>
          </a:solidFill>
          <a:ln xmlns:a="http://schemas.openxmlformats.org/drawingml/2006/main" w="9525">
            <a:solidFill>
              <a:srgbClr val="C9D8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04201-D34C-40CB-952B-A1D8CE4C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8879"/>
                </a:solidFill>
              </a:defRPr>
            </a:pPr>
            <a:r>
              <a:rPr sz="975" b="1">
                <a:solidFill>
                  <a:srgbClr val="07887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41E15-5647-4C36-9338-C85D8766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765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620"/>
                </a:solidFill>
              </a:defRPr>
            </a:pPr>
            <a:r>
              <a:rPr sz="1650" b="1">
                <a:solidFill>
                  <a:srgbClr val="102620"/>
                </a:solidFill>
              </a:rPr>
              <a:t>Coller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963DFC-9897-44ED-A182-048A5976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908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88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45834D-9873-49CB-8597-6C2EFD0A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81250"/>
            <a:ext cx="1428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5F8F7"/>
          </a:solidFill>
          <a:ln xmlns:a="http://schemas.openxmlformats.org/drawingml/2006/main" w="9525">
            <a:solidFill>
              <a:srgbClr val="C9D8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49C55-E6DB-427E-A726-C789B8C5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8879"/>
                </a:solidFill>
              </a:defRPr>
            </a:pPr>
            <a:r>
              <a:rPr sz="975" b="1">
                <a:solidFill>
                  <a:srgbClr val="078879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69148-DD42-47CB-B9C9-4F3E5953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620"/>
                </a:solidFill>
              </a:defRPr>
            </a:pPr>
            <a:r>
              <a:rPr sz="1650" b="1">
                <a:solidFill>
                  <a:srgbClr val="102620"/>
                </a:solidFill>
              </a:rPr>
              <a:t>Saisie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B839E1-D243-4880-9F1C-C7E55665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908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887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658A08-75EF-40DA-B466-2E7DC36C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81250"/>
            <a:ext cx="1428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5F8F7"/>
          </a:solidFill>
          <a:ln xmlns:a="http://schemas.openxmlformats.org/drawingml/2006/main" w="9525">
            <a:solidFill>
              <a:srgbClr val="C9D8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87F21D-8304-4EE6-BE94-D3B596AD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8879"/>
                </a:solidFill>
              </a:defRPr>
            </a:pPr>
            <a:r>
              <a:rPr sz="975" b="1">
                <a:solidFill>
                  <a:srgbClr val="078879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48D0E1-DB68-4AFF-8CF8-C047A9BD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765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620"/>
                </a:solidFill>
              </a:defRPr>
            </a:pPr>
            <a:r>
              <a:rPr sz="1650" b="1">
                <a:solidFill>
                  <a:srgbClr val="102620"/>
                </a:solidFill>
              </a:rPr>
              <a:t>Classer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7FEA56-637E-41DE-ADB5-689FC163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908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887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AC5034-E2A8-4BDC-AFAE-46042851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81250"/>
            <a:ext cx="1428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DF3EE"/>
          </a:solidFill>
          <a:ln xmlns:a="http://schemas.openxmlformats.org/drawingml/2006/main" w="9525">
            <a:solidFill>
              <a:srgbClr val="07887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7E78AB-2FF3-43D4-BF29-98145E0D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8879"/>
                </a:solidFill>
              </a:defRPr>
            </a:pPr>
            <a:r>
              <a:rPr sz="975" b="1">
                <a:solidFill>
                  <a:srgbClr val="078879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06FEF3-749F-443E-A62B-B6C8E99E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765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620"/>
                </a:solidFill>
              </a:defRPr>
            </a:pPr>
            <a:r>
              <a:rPr sz="1650" b="1">
                <a:solidFill>
                  <a:srgbClr val="102620"/>
                </a:solidFill>
              </a:rPr>
              <a:t>Trouver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8AA263-E89F-43EA-A0AB-95841CA7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6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D1B930-29AA-4982-AE8B-01D0B4E2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474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620"/>
                </a:solidFill>
              </a:defRPr>
            </a:pPr>
            <a:r>
              <a:rPr sz="1500" b="0">
                <a:solidFill>
                  <a:srgbClr val="102620"/>
                </a:solidFill>
              </a:rPr>
              <a:t>Étiquettes humides, déchirées, perdues ou illisibles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0FBE62-6618-40BA-B436-58DE2DBF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6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C885AF-6BD9-4EED-BC0A-0306BD31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541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620"/>
                </a:solidFill>
              </a:defRPr>
            </a:pPr>
            <a:r>
              <a:rPr sz="1500" b="0">
                <a:solidFill>
                  <a:srgbClr val="102620"/>
                </a:solidFill>
              </a:rPr>
              <a:t>Informations dispersées et qualité dépendante de chaque salarié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9A61A0-FF4F-48C9-915B-4FF66D22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6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7220C4-911E-42BA-8C60-A562EC1F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474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620"/>
                </a:solidFill>
              </a:defRPr>
            </a:pPr>
            <a:r>
              <a:rPr sz="1500" b="0">
                <a:solidFill>
                  <a:srgbClr val="102620"/>
                </a:solidFill>
              </a:rPr>
              <a:t>Recherche lente lors d’un contrôle ou d’un rappel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69E976-CD4C-47C7-9DB8-6C621F36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D69"/>
                </a:solidFill>
              </a:defRPr>
            </a:pPr>
            <a:r>
              <a:rPr sz="1875" b="0">
                <a:solidFill>
                  <a:srgbClr val="5D6D69"/>
                </a:solidFill>
              </a:rPr>
              <a:t>Une procédure longue, répétitive et difficile à consolider.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1BA7AB-5B11-47C1-A1B0-C1581DF1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8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456178-1649-447F-8174-AFB548E8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D69"/>
                </a:solidFill>
              </a:defRPr>
            </a:pPr>
            <a:r>
              <a:rPr sz="900" b="0">
                <a:solidFill>
                  <a:srgbClr val="5D6D69"/>
                </a:solidFill>
              </a:rPr>
              <a:t>LabelScan · Traçabilité alimentaire</a:t>
            </a:r>
          </a:p>
        </p:txBody>
      </p:sp>
    </p:spTree>
    <p:extLst>
      <p:ext uri="{BB962C8B-B14F-4D97-AF65-F5344CB8AC3E}">
        <p14:creationId xmlns:p14="http://schemas.microsoft.com/office/powerpoint/2010/main" val="7539134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1D69EE-071B-4CD5-AAE7-E2E58EEB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879"/>
                </a:solidFill>
              </a:defRPr>
            </a:pPr>
            <a:r>
              <a:rPr sz="1125" b="1">
                <a:solidFill>
                  <a:srgbClr val="078879"/>
                </a:solidFill>
              </a:rPr>
              <a:t>LA RÉPONSE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92E13-754E-4FA0-BBD9-EA9043E7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D69"/>
                </a:solidFill>
              </a:defRPr>
            </a:pPr>
            <a:r>
              <a:rPr sz="1125" b="1">
                <a:solidFill>
                  <a:srgbClr val="5D6D69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BB13E-3FBD-4F2E-A65D-82EED68F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620"/>
                </a:solidFill>
              </a:defRPr>
            </a:pPr>
            <a:r>
              <a:rPr sz="3000" b="1">
                <a:solidFill>
                  <a:srgbClr val="102620"/>
                </a:solidFill>
              </a:rPr>
              <a:t>L’employé ne remplit plus une fiche vide.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A6BE4-51FC-41A7-83E0-6581CC6D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D69"/>
                </a:solidFill>
              </a:defRPr>
            </a:pPr>
            <a:r>
              <a:rPr sz="1500" b="0">
                <a:solidFill>
                  <a:srgbClr val="5D6D69"/>
                </a:solidFill>
              </a:rPr>
              <a:t>Il vérifie une fiche déjà préremplie.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e2660fbc442af"/>
          <a:stretch xmlns:a="http://schemas.openxmlformats.org/drawingml/2006/main"/>
        </p:blipFill>
        <p:spPr>
          <a:xfrm xmlns:a="http://schemas.openxmlformats.org/drawingml/2006/main">
            <a:off x="723900" y="2224541"/>
            <a:ext cx="1762125" cy="1694544"/>
          </a:xfrm>
          <a:prstGeom xmlns:a="http://schemas.openxmlformats.org/drawingml/2006/main" prst="roundRect">
            <a:avLst>
              <a:gd name="adj" fmla="val 864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881AD-C92C-4ABC-AD81-C312819B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67000"/>
            <a:ext cx="1666875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AB73C-439D-4050-9BEF-0B74DE12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289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8879"/>
                </a:solidFill>
              </a:defRPr>
            </a:pPr>
            <a:r>
              <a:rPr sz="1050" b="1">
                <a:solidFill>
                  <a:srgbClr val="078879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9EAC2-8265-480D-9EF4-90F4DB70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051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620"/>
                </a:solidFill>
              </a:defRPr>
            </a:pPr>
            <a:r>
              <a:rPr sz="1350" b="1">
                <a:solidFill>
                  <a:srgbClr val="102620"/>
                </a:solidFill>
              </a:rPr>
              <a:t>Photo de l’étiquette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404CF-C8DC-4726-8C05-438ECDE5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17182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88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DCF08-26A3-4727-92DD-BE589193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67000"/>
            <a:ext cx="1666875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B51A5-D180-42AF-9738-AD147392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289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8879"/>
                </a:solidFill>
              </a:defRPr>
            </a:pPr>
            <a:r>
              <a:rPr sz="1050" b="1">
                <a:solidFill>
                  <a:srgbClr val="078879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9A254B-3813-495E-9083-B3574FCF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051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620"/>
                </a:solidFill>
              </a:defRPr>
            </a:pPr>
            <a:r>
              <a:rPr sz="1350" b="1">
                <a:solidFill>
                  <a:srgbClr val="102620"/>
                </a:solidFill>
              </a:rPr>
              <a:t>Lecture GS1 + OCR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3F761-25B2-478E-A421-2C53A183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17182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887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D8A55-EA7A-477B-AD11-6967CE17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67000"/>
            <a:ext cx="1666875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C1EE7D-AF30-4042-AEE9-B911CE2E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289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8879"/>
                </a:solidFill>
              </a:defRPr>
            </a:pPr>
            <a:r>
              <a:rPr sz="1050" b="1">
                <a:solidFill>
                  <a:srgbClr val="078879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7DB56-21A1-48F8-8269-DDA0CB28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051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620"/>
                </a:solidFill>
              </a:defRPr>
            </a:pPr>
            <a:r>
              <a:rPr sz="1350" b="1">
                <a:solidFill>
                  <a:srgbClr val="102620"/>
                </a:solidFill>
              </a:rPr>
              <a:t>17 champs structurés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AC47CB-711B-44AA-8186-F6C09FA8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17182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887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364DE9-2224-43D6-ABC0-EDB3CAB6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67000"/>
            <a:ext cx="1666875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FD66D2-57E4-4424-824F-251E0348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289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8879"/>
                </a:solidFill>
              </a:defRPr>
            </a:pPr>
            <a:r>
              <a:rPr sz="1050" b="1">
                <a:solidFill>
                  <a:srgbClr val="078879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2BF5D7-5607-4457-B387-594FD745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051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620"/>
                </a:solidFill>
              </a:defRPr>
            </a:pPr>
            <a:r>
              <a:rPr sz="1350" b="1">
                <a:solidFill>
                  <a:srgbClr val="102620"/>
                </a:solidFill>
              </a:rPr>
              <a:t>Validation humaine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222FBE-F361-4254-9084-4F9FEEB3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620"/>
                </a:solidFill>
              </a:defRPr>
            </a:pPr>
            <a:r>
              <a:rPr sz="1725" b="0">
                <a:solidFill>
                  <a:srgbClr val="102620"/>
                </a:solidFill>
              </a:rPr>
              <a:t>Les champs incertains sont signalés ; l’arrivage rejoint immédiatement le catalogue du magasin.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2DB30D-3B43-4226-B3E1-81278025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8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709787-B9CF-44B0-8B02-F85C6F48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D69"/>
                </a:solidFill>
              </a:defRPr>
            </a:pPr>
            <a:r>
              <a:rPr sz="900" b="0">
                <a:solidFill>
                  <a:srgbClr val="5D6D69"/>
                </a:solidFill>
              </a:rPr>
              <a:t>LabelScan · Traçabilité alimentaire</a:t>
            </a:r>
          </a:p>
        </p:txBody>
      </p:sp>
    </p:spTree>
    <p:extLst>
      <p:ext uri="{BB962C8B-B14F-4D97-AF65-F5344CB8AC3E}">
        <p14:creationId xmlns:p14="http://schemas.microsoft.com/office/powerpoint/2010/main" val="18934298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BD02F4-71F4-4BE6-834E-2AEF3215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879"/>
                </a:solidFill>
              </a:defRPr>
            </a:pPr>
            <a:r>
              <a:rPr sz="1125" b="1">
                <a:solidFill>
                  <a:srgbClr val="078879"/>
                </a:solidFill>
              </a:rPr>
              <a:t>LA RÉPONSE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3BFCC-2164-4A22-9F57-AEE3E4CD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D69"/>
                </a:solidFill>
              </a:defRPr>
            </a:pPr>
            <a:r>
              <a:rPr sz="1125" b="1">
                <a:solidFill>
                  <a:srgbClr val="5D6D69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C6C84-7A21-4823-83D1-38916C74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620"/>
                </a:solidFill>
              </a:defRPr>
            </a:pPr>
            <a:r>
              <a:rPr sz="3000" b="1">
                <a:solidFill>
                  <a:srgbClr val="102620"/>
                </a:solidFill>
              </a:rPr>
              <a:t>Une preuve source et une fiche prête à vérifier.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b3c5add08400c"/>
          <a:srcRect xmlns:a="http://schemas.openxmlformats.org/drawingml/2006/main" l="0" t="3321" r="0" b="33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905000"/>
            <a:ext cx="695325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66162-8781-4C1E-AC36-F9CF986C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3381375" cy="3914775"/>
          </a:xfrm>
          <a:prstGeom xmlns:a="http://schemas.openxmlformats.org/drawingml/2006/main" prst="roundRect">
            <a:avLst>
              <a:gd name="adj" fmla="val 6197"/>
            </a:avLst>
          </a:prstGeom>
          <a:solidFill xmlns:a="http://schemas.openxmlformats.org/drawingml/2006/main">
            <a:srgbClr val="F5F8F7"/>
          </a:solidFill>
          <a:ln xmlns:a="http://schemas.openxmlformats.org/drawingml/2006/main" w="9525">
            <a:solidFill>
              <a:srgbClr val="C9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CBC91-EA7E-440A-9D4C-28BFEC95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98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8879"/>
                </a:solidFill>
              </a:defRPr>
            </a:pPr>
            <a:r>
              <a:rPr sz="1050" b="1">
                <a:solidFill>
                  <a:srgbClr val="078879"/>
                </a:solidFill>
              </a:rPr>
              <a:t>FICHE ARRIVAGE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C9CE4-9785-45B6-A3F0-E65A7FB0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2890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9"/>
                </a:solidFill>
              </a:defRPr>
            </a:pPr>
            <a:r>
              <a:rPr sz="1050" b="1">
                <a:solidFill>
                  <a:srgbClr val="5D6D69"/>
                </a:solidFill>
              </a:rPr>
              <a:t>Produit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34F08-A9CF-46B3-9DDC-77C210BD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289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620"/>
                </a:solidFill>
              </a:defRPr>
            </a:pPr>
            <a:r>
              <a:rPr sz="1200" b="1">
                <a:solidFill>
                  <a:srgbClr val="102620"/>
                </a:solidFill>
              </a:rPr>
              <a:t>Dos de julienne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3F59C-48D6-46F0-93BA-6DFC0339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E724F-AE9F-4F3F-BDD5-BEB79B2B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8610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9"/>
                </a:solidFill>
              </a:defRPr>
            </a:pPr>
            <a:r>
              <a:rPr sz="1050" b="1">
                <a:solidFill>
                  <a:srgbClr val="5D6D69"/>
                </a:solidFill>
              </a:rPr>
              <a:t>Lot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93F95-6D94-414A-9DCD-08659081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861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620"/>
                </a:solidFill>
              </a:defRPr>
            </a:pPr>
            <a:r>
              <a:rPr sz="1200" b="1">
                <a:solidFill>
                  <a:srgbClr val="102620"/>
                </a:solidFill>
              </a:rPr>
              <a:t>400111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AD484-76B6-4B6F-BCF2-0932824B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147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8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9C58AA-C66D-4959-953D-3DD44B4C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9"/>
                </a:solidFill>
              </a:defRPr>
            </a:pPr>
            <a:r>
              <a:rPr sz="1050" b="1">
                <a:solidFill>
                  <a:srgbClr val="5D6D69"/>
                </a:solidFill>
              </a:rPr>
              <a:t>Fournisseur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CA962-E34F-4BEB-800A-5DA31361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433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620"/>
                </a:solidFill>
              </a:defRPr>
            </a:pPr>
            <a:r>
              <a:rPr sz="1200" b="1">
                <a:solidFill>
                  <a:srgbClr val="102620"/>
                </a:solidFill>
              </a:rPr>
              <a:t>SAS MERICQ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03D13-B318-4000-A4CE-650985AF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719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8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1EF4D3-6FEF-4841-AB99-275F2A2F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0050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9"/>
                </a:solidFill>
              </a:defRPr>
            </a:pPr>
            <a:r>
              <a:rPr sz="1050" b="1">
                <a:solidFill>
                  <a:srgbClr val="5D6D69"/>
                </a:solidFill>
              </a:rPr>
              <a:t>DLC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66983A-C925-4D71-A573-C8F76D96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620"/>
                </a:solidFill>
              </a:defRPr>
            </a:pPr>
            <a:r>
              <a:rPr sz="1200" b="1">
                <a:solidFill>
                  <a:srgbClr val="102620"/>
                </a:solidFill>
              </a:rPr>
              <a:t>27/06/2026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76776-03DD-4FC4-AB52-19EC38FC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291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8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B968F4-2D82-4981-8547-CE80B4C2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9"/>
                </a:solidFill>
              </a:defRPr>
            </a:pPr>
            <a:r>
              <a:rPr sz="1050" b="1">
                <a:solidFill>
                  <a:srgbClr val="5D6D69"/>
                </a:solidFill>
              </a:rPr>
              <a:t>GTIN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33662-519C-4929-A8A3-76E792A5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57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620"/>
                </a:solidFill>
              </a:defRPr>
            </a:pPr>
            <a:r>
              <a:rPr sz="1200" b="1">
                <a:solidFill>
                  <a:srgbClr val="102620"/>
                </a:solidFill>
              </a:rPr>
              <a:t>présent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E78CC-DF47-4D09-B654-728A7455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863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8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31A932-F7F1-4105-93CD-E817DADD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1490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9"/>
                </a:solidFill>
              </a:defRPr>
            </a:pPr>
            <a:r>
              <a:rPr sz="1050" b="1">
                <a:solidFill>
                  <a:srgbClr val="5D6D69"/>
                </a:solidFill>
              </a:rPr>
              <a:t>Statut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CD7A30-C1D9-4644-AA26-5A404597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149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À vérifier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6D832B-0BCB-4B74-86CB-47AF21BF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435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8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32DF8D-4E42-483A-BD60-B16D717E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D69"/>
                </a:solidFill>
              </a:defRPr>
            </a:pPr>
            <a:r>
              <a:rPr sz="1275" b="0">
                <a:solidFill>
                  <a:srgbClr val="5D6D69"/>
                </a:solidFill>
              </a:rPr>
              <a:t>17 champs gérés · 12 à 14 généralement préremplis lors des essais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63675A-6893-43F3-87BF-AE46E692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8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B07C11-825A-4ACB-9130-B900E4AE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D69"/>
                </a:solidFill>
              </a:defRPr>
            </a:pPr>
            <a:r>
              <a:rPr sz="900" b="0">
                <a:solidFill>
                  <a:srgbClr val="5D6D69"/>
                </a:solidFill>
              </a:rPr>
              <a:t>LabelScan · Traçabilité alimentaire</a:t>
            </a:r>
          </a:p>
        </p:txBody>
      </p:sp>
    </p:spTree>
    <p:extLst>
      <p:ext uri="{BB962C8B-B14F-4D97-AF65-F5344CB8AC3E}">
        <p14:creationId xmlns:p14="http://schemas.microsoft.com/office/powerpoint/2010/main" val="9322572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65429-6A5B-49FF-8F4C-2A0D1887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879"/>
                </a:solidFill>
              </a:defRPr>
            </a:pPr>
            <a:r>
              <a:rPr sz="1125" b="1">
                <a:solidFill>
                  <a:srgbClr val="078879"/>
                </a:solidFill>
              </a:rPr>
              <a:t>LA VALEUR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E3ECE-3F78-42BA-9A70-AA18AE15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D69"/>
                </a:solidFill>
              </a:defRPr>
            </a:pPr>
            <a:r>
              <a:rPr sz="1125" b="1">
                <a:solidFill>
                  <a:srgbClr val="5D6D69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81BC6-0C9B-42D6-8BEF-932D4B3B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620"/>
                </a:solidFill>
              </a:defRPr>
            </a:pPr>
            <a:r>
              <a:rPr sz="3000" b="1">
                <a:solidFill>
                  <a:srgbClr val="102620"/>
                </a:solidFill>
              </a:rPr>
              <a:t>Un bénéfice concret pour chaque acteur.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2C7CD-50FE-4C91-842B-6876BC81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3238500" cy="2800350"/>
          </a:xfrm>
          <a:prstGeom xmlns:a="http://schemas.openxmlformats.org/drawingml/2006/main" prst="roundRect">
            <a:avLst>
              <a:gd name="adj" fmla="val 74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2CA16-206E-4252-BE53-940DFAC7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77F85-3D1B-426C-BA2F-9EB3B778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526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620"/>
                </a:solidFill>
              </a:defRPr>
            </a:pPr>
            <a:r>
              <a:rPr sz="1875" b="1">
                <a:solidFill>
                  <a:srgbClr val="102620"/>
                </a:solidFill>
              </a:rPr>
              <a:t>Personnel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93680-8DC4-4FD1-A7E5-EB32DA7F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26289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D69"/>
                </a:solidFill>
              </a:defRPr>
            </a:pPr>
            <a:r>
              <a:rPr sz="1425" b="0">
                <a:solidFill>
                  <a:srgbClr val="5D6D69"/>
                </a:solidFill>
              </a:rPr>
              <a:t>Moins de ressaisie</a:t>
            </a:r>
          </a:p>
          <a:p xmlns:a="http://schemas.openxmlformats.org/drawingml/2006/main">
            <a:pPr algn="l">
              <a:defRPr sz="1425" b="0">
                <a:solidFill>
                  <a:srgbClr val="5D6D69"/>
                </a:solidFill>
              </a:defRPr>
            </a:pPr>
            <a:r>
              <a:rPr sz="1425" b="0">
                <a:solidFill>
                  <a:srgbClr val="5D6D69"/>
                </a:solidFill>
              </a:rPr>
              <a:t>Procédure identique</a:t>
            </a:r>
          </a:p>
          <a:p xmlns:a="http://schemas.openxmlformats.org/drawingml/2006/main">
            <a:pPr algn="l">
              <a:defRPr sz="1425" b="0">
                <a:solidFill>
                  <a:srgbClr val="5D6D69"/>
                </a:solidFill>
              </a:defRPr>
            </a:pPr>
            <a:r>
              <a:rPr sz="1425" b="0">
                <a:solidFill>
                  <a:srgbClr val="5D6D69"/>
                </a:solidFill>
              </a:rPr>
              <a:t>File locale si réseau difficile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D10C1-8E1C-4DEC-97DC-D2AAAC54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3238500" cy="2800350"/>
          </a:xfrm>
          <a:prstGeom xmlns:a="http://schemas.openxmlformats.org/drawingml/2006/main" prst="roundRect">
            <a:avLst>
              <a:gd name="adj" fmla="val 74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AEC70-A039-4BEB-853F-430C2729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193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2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0CA4A-FF9E-4551-9AFA-663E2999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526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620"/>
                </a:solidFill>
              </a:defRPr>
            </a:pPr>
            <a:r>
              <a:rPr sz="1875" b="1">
                <a:solidFill>
                  <a:srgbClr val="102620"/>
                </a:solidFill>
              </a:rPr>
              <a:t>Directeur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D11CA-52D8-47B9-BED5-BDBEE792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6289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D69"/>
                </a:solidFill>
              </a:defRPr>
            </a:pPr>
            <a:r>
              <a:rPr sz="1425" b="0">
                <a:solidFill>
                  <a:srgbClr val="5D6D69"/>
                </a:solidFill>
              </a:rPr>
              <a:t>Recherche par lot, produit ou fournisseur</a:t>
            </a:r>
          </a:p>
          <a:p xmlns:a="http://schemas.openxmlformats.org/drawingml/2006/main">
            <a:pPr algn="l">
              <a:defRPr sz="1425" b="0">
                <a:solidFill>
                  <a:srgbClr val="5D6D69"/>
                </a:solidFill>
              </a:defRPr>
            </a:pPr>
            <a:r>
              <a:rPr sz="1425" b="0">
                <a:solidFill>
                  <a:srgbClr val="5D6D69"/>
                </a:solidFill>
              </a:rPr>
              <a:t>Dossiers incomplets visibles</a:t>
            </a:r>
          </a:p>
          <a:p xmlns:a="http://schemas.openxmlformats.org/drawingml/2006/main">
            <a:pPr algn="l">
              <a:defRPr sz="1425" b="0">
                <a:solidFill>
                  <a:srgbClr val="5D6D69"/>
                </a:solidFill>
              </a:defRPr>
            </a:pPr>
            <a:r>
              <a:rPr sz="1425" b="0">
                <a:solidFill>
                  <a:srgbClr val="5D6D69"/>
                </a:solidFill>
              </a:rPr>
              <a:t>Photo et historique accessibles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233E6-1E87-4A87-B978-B8E676FE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52650"/>
            <a:ext cx="3238500" cy="2800350"/>
          </a:xfrm>
          <a:prstGeom xmlns:a="http://schemas.openxmlformats.org/drawingml/2006/main" prst="roundRect">
            <a:avLst>
              <a:gd name="adj" fmla="val 74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08FDE-EDDB-453A-AC3F-3A780458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193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3D49C-AB81-433F-8839-70138318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526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620"/>
                </a:solidFill>
              </a:defRPr>
            </a:pPr>
            <a:r>
              <a:rPr sz="1875" b="1">
                <a:solidFill>
                  <a:srgbClr val="102620"/>
                </a:solidFill>
              </a:rPr>
              <a:t>Enseigne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6FA01-6B16-43D2-B4B2-0CF702FA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90850"/>
            <a:ext cx="26289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D69"/>
                </a:solidFill>
              </a:defRPr>
            </a:pPr>
            <a:r>
              <a:rPr sz="1425" b="0">
                <a:solidFill>
                  <a:srgbClr val="5D6D69"/>
                </a:solidFill>
              </a:rPr>
              <a:t>Standardisation multisite</a:t>
            </a:r>
          </a:p>
          <a:p xmlns:a="http://schemas.openxmlformats.org/drawingml/2006/main">
            <a:pPr algn="l">
              <a:defRPr sz="1425" b="0">
                <a:solidFill>
                  <a:srgbClr val="5D6D69"/>
                </a:solidFill>
              </a:defRPr>
            </a:pPr>
            <a:r>
              <a:rPr sz="1425" b="0">
                <a:solidFill>
                  <a:srgbClr val="5D6D69"/>
                </a:solidFill>
              </a:rPr>
              <a:t>Anomalies comparables</a:t>
            </a:r>
          </a:p>
          <a:p xmlns:a="http://schemas.openxmlformats.org/drawingml/2006/main">
            <a:pPr algn="l">
              <a:defRPr sz="1425" b="0">
                <a:solidFill>
                  <a:srgbClr val="5D6D69"/>
                </a:solidFill>
              </a:defRPr>
            </a:pPr>
            <a:r>
              <a:rPr sz="1425" b="0">
                <a:solidFill>
                  <a:srgbClr val="5D6D69"/>
                </a:solidFill>
              </a:rPr>
              <a:t>Données intégrables au SI qualité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B038FC-BFD6-4915-8EEC-7F5A34EA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8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4C1DD9-7D5C-4FA4-9068-3BEFF715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D69"/>
                </a:solidFill>
              </a:defRPr>
            </a:pPr>
            <a:r>
              <a:rPr sz="900" b="0">
                <a:solidFill>
                  <a:srgbClr val="5D6D69"/>
                </a:solidFill>
              </a:rPr>
              <a:t>LabelScan · Traçabilité alimentaire</a:t>
            </a:r>
          </a:p>
        </p:txBody>
      </p:sp>
    </p:spTree>
    <p:extLst>
      <p:ext uri="{BB962C8B-B14F-4D97-AF65-F5344CB8AC3E}">
        <p14:creationId xmlns:p14="http://schemas.microsoft.com/office/powerpoint/2010/main" val="43264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2D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B840E3-6B87-4FAA-8685-E68FCDAD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879"/>
                </a:solidFill>
              </a:defRPr>
            </a:pPr>
            <a:r>
              <a:rPr sz="1125" b="1">
                <a:solidFill>
                  <a:srgbClr val="078879"/>
                </a:solidFill>
              </a:rPr>
              <a:t>MISE EN SITUATION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CF808-21FA-4506-A49F-474395A7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D69"/>
                </a:solidFill>
              </a:defRPr>
            </a:pPr>
            <a:r>
              <a:rPr sz="1125" b="1">
                <a:solidFill>
                  <a:srgbClr val="5D6D69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8AFF8-5748-42CC-A135-95B8F430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C8E5DD"/>
                </a:solidFill>
              </a:defRPr>
            </a:pPr>
            <a:r>
              <a:rPr sz="2250" b="0">
                <a:solidFill>
                  <a:srgbClr val="C8E5DD"/>
                </a:solidFill>
              </a:rPr>
              <a:t>Le siège communique le 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72193-265B-4F73-A8AE-E80A4F26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SAU-240815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99445-AB1E-4AD2-83B0-D0D3EF89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E5DD"/>
                </a:solidFill>
              </a:defRPr>
            </a:pPr>
            <a:r>
              <a:rPr sz="1500" b="0">
                <a:solidFill>
                  <a:srgbClr val="C8E5DD"/>
                </a:solidFill>
              </a:rPr>
              <a:t>En quelques secondes, le directeur sait 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2E22D-5257-423C-9CFA-1A11F991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8EA47-DEF5-4EF7-B57D-5F76C4DD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si le lot est présent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00057-6200-427B-9A19-53998D8B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FE0B4-5A0C-4088-8ADB-AAB395EE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à quelle date il est arrivé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A4C6B-F805-412A-8644-1F7ABE56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63116-6972-40B0-944A-96FD1B35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2910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de quel fournisseur il provient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771B36-E441-4A27-8E13-0A9552B2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473145-B31F-4387-B276-9E84B7D7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815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qui l’a validé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70D69-32DB-4041-936D-4D464D62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A5ED4B-5684-4F4F-BA89-34001D0C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3400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quelle était l’étiquette originale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1B33D-E249-4EBA-B4EE-053DA170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066800"/>
            <a:ext cx="3486150" cy="40767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F463C"/>
          </a:solidFill>
          <a:ln xmlns:a="http://schemas.openxmlformats.org/drawingml/2006/main" w="9525">
            <a:solidFill>
              <a:srgbClr val="3D67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C7C958-0BF9-4C9C-9D11-C9EC1948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09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Alerte → recherche → décision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2D121F-AC87-4157-B5B1-1239AD00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4857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846E59-1CE8-46C3-825D-18C6D203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241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E5DD"/>
                </a:solidFill>
              </a:defRPr>
            </a:pPr>
            <a:r>
              <a:rPr sz="1275" b="1">
                <a:solidFill>
                  <a:srgbClr val="C8E5DD"/>
                </a:solidFill>
              </a:rPr>
              <a:t>Temps gagné critique 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032B21-0C9B-44ED-AE6E-8E64AAC5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2571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entre l’alerte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et la mise en sécurité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du produit.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F3B8EB-61CD-442D-9DF5-0E5758B6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8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5C7B75-716D-46EE-A4D7-815AA301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D69"/>
                </a:solidFill>
              </a:defRPr>
            </a:pPr>
            <a:r>
              <a:rPr sz="900" b="0">
                <a:solidFill>
                  <a:srgbClr val="5D6D69"/>
                </a:solidFill>
              </a:rPr>
              <a:t>LabelScan · Traçabilité alimentaire</a:t>
            </a:r>
          </a:p>
        </p:txBody>
      </p:sp>
    </p:spTree>
    <p:extLst>
      <p:ext uri="{BB962C8B-B14F-4D97-AF65-F5344CB8AC3E}">
        <p14:creationId xmlns:p14="http://schemas.microsoft.com/office/powerpoint/2010/main" val="580214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61AD6A-E0C7-486F-BD94-6D2AD6B0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879"/>
                </a:solidFill>
              </a:defRPr>
            </a:pPr>
            <a:r>
              <a:rPr sz="1125" b="1">
                <a:solidFill>
                  <a:srgbClr val="078879"/>
                </a:solidFill>
              </a:rPr>
              <a:t>LES PREUVES TECHNIQUES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2F392-C3CF-4501-B2D8-E0A4F3B2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D69"/>
                </a:solidFill>
              </a:defRPr>
            </a:pPr>
            <a:r>
              <a:rPr sz="1125" b="1">
                <a:solidFill>
                  <a:srgbClr val="5D6D69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772A3-8CAA-46EB-B702-521F1509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620"/>
                </a:solidFill>
              </a:defRPr>
            </a:pPr>
            <a:r>
              <a:rPr sz="3000" b="1">
                <a:solidFill>
                  <a:srgbClr val="102620"/>
                </a:solidFill>
              </a:rPr>
              <a:t>L’IA est utile parce qu’elle reste contrôlée.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62B22-5048-4BFA-8C41-89FC0A2F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52006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5F8F7"/>
          </a:solidFill>
          <a:ln xmlns:a="http://schemas.openxmlformats.org/drawingml/2006/main" w="9525">
            <a:solidFill>
              <a:srgbClr val="C9D8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8DB38-4735-49E1-81B3-BA5D8DBC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288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8879"/>
                </a:solidFill>
              </a:defRPr>
            </a:pPr>
            <a:r>
              <a:rPr sz="1050" b="1">
                <a:solidFill>
                  <a:srgbClr val="078879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3E27E-09B1-439F-9A06-D6626CA9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003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20"/>
                </a:solidFill>
              </a:defRPr>
            </a:pPr>
            <a:r>
              <a:rPr sz="1725" b="1">
                <a:solidFill>
                  <a:srgbClr val="102620"/>
                </a:solidFill>
              </a:rPr>
              <a:t>Extraction hybride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F3416-7985-4E0C-BB4E-45B809C0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62250"/>
            <a:ext cx="396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D69"/>
                </a:solidFill>
              </a:defRPr>
            </a:pPr>
            <a:r>
              <a:rPr sz="1275" b="0">
                <a:solidFill>
                  <a:srgbClr val="5D6D69"/>
                </a:solidFill>
              </a:rPr>
              <a:t>GS1 pour les données déterministes ; OCR et IA pour le texte libre.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1639B-FD51-4B99-9D6D-B9CA086B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52006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5F8F7"/>
          </a:solidFill>
          <a:ln xmlns:a="http://schemas.openxmlformats.org/drawingml/2006/main" w="9525">
            <a:solidFill>
              <a:srgbClr val="C9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E75F7-BF45-4D28-BD94-151D4353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288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8879"/>
                </a:solidFill>
              </a:defRPr>
            </a:pPr>
            <a:r>
              <a:rPr sz="1050" b="1">
                <a:solidFill>
                  <a:srgbClr val="07887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544D8-351E-41DF-8CF8-7E11822C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003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20"/>
                </a:solidFill>
              </a:defRPr>
            </a:pPr>
            <a:r>
              <a:rPr sz="1725" b="1">
                <a:solidFill>
                  <a:srgbClr val="102620"/>
                </a:solidFill>
              </a:rPr>
              <a:t>Preuve obligatoire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44161-4BB6-4749-ADB7-6A9C09B5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62250"/>
            <a:ext cx="396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D69"/>
                </a:solidFill>
              </a:defRPr>
            </a:pPr>
            <a:r>
              <a:rPr sz="1275" b="0">
                <a:solidFill>
                  <a:srgbClr val="5D6D69"/>
                </a:solidFill>
              </a:rPr>
              <a:t>Toute valeur est liée à une preuve textuelle ; sinon, vérification humaine.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D3E1B-8551-47DE-A463-551A3511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2006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5F8F7"/>
          </a:solidFill>
          <a:ln xmlns:a="http://schemas.openxmlformats.org/drawingml/2006/main" w="9525">
            <a:solidFill>
              <a:srgbClr val="C9D8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67C14-4CC0-4978-9585-C84D91E9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052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8879"/>
                </a:solidFill>
              </a:defRPr>
            </a:pPr>
            <a:r>
              <a:rPr sz="1050" b="1">
                <a:solidFill>
                  <a:srgbClr val="07887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1BB18B-2773-424C-A351-B006243E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7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20"/>
                </a:solidFill>
              </a:defRPr>
            </a:pPr>
            <a:r>
              <a:rPr sz="1725" b="1">
                <a:solidFill>
                  <a:srgbClr val="102620"/>
                </a:solidFill>
              </a:rPr>
              <a:t>Mémoire auditée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56336-2DB7-4074-91F8-1B442480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38650"/>
            <a:ext cx="396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D69"/>
                </a:solidFill>
              </a:defRPr>
            </a:pPr>
            <a:r>
              <a:rPr sz="1275" b="0">
                <a:solidFill>
                  <a:srgbClr val="5D6D69"/>
                </a:solidFill>
              </a:rPr>
              <a:t>La photo originale est conservée ; les corrections créent un historique.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F4CFDA-C829-4C8D-9EB7-53B136D3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67150"/>
            <a:ext cx="52006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5F8F7"/>
          </a:solidFill>
          <a:ln xmlns:a="http://schemas.openxmlformats.org/drawingml/2006/main" w="9525">
            <a:solidFill>
              <a:srgbClr val="C9D8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42497F-2EDA-4BE3-B5C7-2CD71498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052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8879"/>
                </a:solidFill>
              </a:defRPr>
            </a:pPr>
            <a:r>
              <a:rPr sz="1050" b="1">
                <a:solidFill>
                  <a:srgbClr val="078879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B4FF5E-B705-4B6A-9FA8-D9644D01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7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20"/>
                </a:solidFill>
              </a:defRPr>
            </a:pPr>
            <a:r>
              <a:rPr sz="1725" b="1">
                <a:solidFill>
                  <a:srgbClr val="102620"/>
                </a:solidFill>
              </a:rPr>
              <a:t>Résilience terrain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31927D-055A-46F8-932C-E621863E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38650"/>
            <a:ext cx="396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D69"/>
                </a:solidFill>
              </a:defRPr>
            </a:pPr>
            <a:r>
              <a:rPr sz="1275" b="0">
                <a:solidFill>
                  <a:srgbClr val="5D6D69"/>
                </a:solidFill>
              </a:rPr>
              <a:t>File persistante et synchronisation pensée pour éviter pertes et doublons.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166249-F465-4AF0-BC83-8377DC6E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8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DE67C1-FEE3-4CAB-9ECA-0EDF4FC4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D69"/>
                </a:solidFill>
              </a:defRPr>
            </a:pPr>
            <a:r>
              <a:rPr sz="900" b="0">
                <a:solidFill>
                  <a:srgbClr val="5D6D69"/>
                </a:solidFill>
              </a:rPr>
              <a:t>LabelScan · Traçabilité alimentaire</a:t>
            </a:r>
          </a:p>
        </p:txBody>
      </p:sp>
    </p:spTree>
    <p:extLst>
      <p:ext uri="{BB962C8B-B14F-4D97-AF65-F5344CB8AC3E}">
        <p14:creationId xmlns:p14="http://schemas.microsoft.com/office/powerpoint/2010/main" val="2136755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F013CD-3EEA-4D62-B763-DA6520FB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879"/>
                </a:solidFill>
              </a:defRPr>
            </a:pPr>
            <a:r>
              <a:rPr sz="1125" b="1">
                <a:solidFill>
                  <a:srgbClr val="078879"/>
                </a:solidFill>
              </a:rPr>
              <a:t>MÉTRIQUES &amp; BUSINESS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44B1E-A811-4291-9DFE-E2C92440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D69"/>
                </a:solidFill>
              </a:defRPr>
            </a:pPr>
            <a:r>
              <a:rPr sz="1125" b="1">
                <a:solidFill>
                  <a:srgbClr val="5D6D69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5F912-224F-4F42-A83A-FAFA3FBE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620"/>
                </a:solidFill>
              </a:defRPr>
            </a:pPr>
            <a:r>
              <a:rPr sz="3000" b="1">
                <a:solidFill>
                  <a:srgbClr val="102620"/>
                </a:solidFill>
              </a:rPr>
              <a:t>Des résultats prometteurs, à confirmer en magasin.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25EE4-12CC-4DF4-8A47-811E6976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8879"/>
                </a:solidFill>
              </a:defRPr>
            </a:pPr>
            <a:r>
              <a:rPr sz="3300" b="1">
                <a:solidFill>
                  <a:srgbClr val="078879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E9C35-65E2-468D-B848-FA1EA8F7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D69"/>
                </a:solidFill>
              </a:defRPr>
            </a:pPr>
            <a:r>
              <a:rPr sz="1200" b="0">
                <a:solidFill>
                  <a:srgbClr val="5D6D69"/>
                </a:solidFill>
              </a:rPr>
              <a:t>champs structurés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AA942-F241-4CCA-ABCE-A0B16578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8879"/>
                </a:solidFill>
              </a:defRPr>
            </a:pPr>
            <a:r>
              <a:rPr sz="3300" b="1">
                <a:solidFill>
                  <a:srgbClr val="078879"/>
                </a:solidFill>
              </a:rPr>
              <a:t>71–82 %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D3EE6-97F6-4B48-B9ED-FC2BD820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D69"/>
                </a:solidFill>
              </a:defRPr>
            </a:pPr>
            <a:r>
              <a:rPr sz="1200" b="0">
                <a:solidFill>
                  <a:srgbClr val="5D6D69"/>
                </a:solidFill>
              </a:rPr>
              <a:t>complétude automatique observée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F3717-E93F-427D-A318-F4C79098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8879"/>
                </a:solidFill>
              </a:defRPr>
            </a:pPr>
            <a:r>
              <a:rPr sz="3300" b="1">
                <a:solidFill>
                  <a:srgbClr val="078879"/>
                </a:solidFill>
              </a:rPr>
              <a:t>~10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EC0AD-1E30-4FDC-ACB3-58BEE7FE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D69"/>
                </a:solidFill>
              </a:defRPr>
            </a:pPr>
            <a:r>
              <a:rPr sz="1200" b="0">
                <a:solidFill>
                  <a:srgbClr val="5D6D69"/>
                </a:solidFill>
              </a:rPr>
              <a:t>conditions favorables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15ABC-2E66-440D-8F64-9C0AF7B1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8879"/>
                </a:solidFill>
              </a:defRPr>
            </a:pPr>
            <a:r>
              <a:rPr sz="3300" b="1">
                <a:solidFill>
                  <a:srgbClr val="078879"/>
                </a:solidFill>
              </a:rPr>
              <a:t>&lt; 0,01 €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CC4E7-6F94-4AE4-A905-1DBE2161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D69"/>
                </a:solidFill>
              </a:defRPr>
            </a:pPr>
            <a:r>
              <a:rPr sz="1200" b="0">
                <a:solidFill>
                  <a:srgbClr val="5D6D69"/>
                </a:solidFill>
              </a:rPr>
              <a:t>coût variable annoncé / étiquette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50407-2ACC-49BD-965D-45B57D8D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744200" cy="156210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23330-5F5D-49DD-B409-662E1705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620"/>
                </a:solidFill>
              </a:defRPr>
            </a:pPr>
            <a:r>
              <a:rPr sz="1350" b="1">
                <a:solidFill>
                  <a:srgbClr val="102620"/>
                </a:solidFill>
              </a:rPr>
              <a:t>Simulation : 300 étiquettes/jour · 300 jours/an · 45 s → 10 s · coût horaire chargé 25 €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197A5C-2B3E-4F8A-AC8C-60416251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8879"/>
                </a:solidFill>
              </a:defRPr>
            </a:pPr>
            <a:r>
              <a:rPr sz="1500" b="1">
                <a:solidFill>
                  <a:srgbClr val="078879"/>
                </a:solidFill>
              </a:rPr>
              <a:t>≈ 875 heures potentiellement libérées · ≈ 20 975 € de gain brut potentiel avant abonnement, équipement, intégration et 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E993AD-72A0-4982-852C-76803A13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D69"/>
                </a:solidFill>
              </a:defRPr>
            </a:pPr>
            <a:r>
              <a:rPr sz="1200" b="0">
                <a:solidFill>
                  <a:srgbClr val="5D6D69"/>
                </a:solidFill>
              </a:rPr>
              <a:t>Mesures préliminaires — protocole terrain à consolider.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0DD7FB-3401-487B-B257-BCAAD388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8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46F22-3C8A-4415-913F-E1798F73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D69"/>
                </a:solidFill>
              </a:defRPr>
            </a:pPr>
            <a:r>
              <a:rPr sz="900" b="0">
                <a:solidFill>
                  <a:srgbClr val="5D6D69"/>
                </a:solidFill>
              </a:rPr>
              <a:t>LabelScan · Traçabilité alimentaire</a:t>
            </a:r>
          </a:p>
        </p:txBody>
      </p:sp>
    </p:spTree>
    <p:extLst>
      <p:ext uri="{BB962C8B-B14F-4D97-AF65-F5344CB8AC3E}">
        <p14:creationId xmlns:p14="http://schemas.microsoft.com/office/powerpoint/2010/main" val="11413339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E6440E-0272-4E7B-BE80-29E5EEBC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879"/>
                </a:solidFill>
              </a:defRPr>
            </a:pPr>
            <a:r>
              <a:rPr sz="1125" b="1">
                <a:solidFill>
                  <a:srgbClr val="078879"/>
                </a:solidFill>
              </a:rPr>
              <a:t>CADRE RÉGLEMENTAIRE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CA78A-1DA0-434F-87CD-D5B09FEA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D69"/>
                </a:solidFill>
              </a:defRPr>
            </a:pPr>
            <a:r>
              <a:rPr sz="1125" b="1">
                <a:solidFill>
                  <a:srgbClr val="5D6D69"/>
                </a:solidFill>
              </a:rPr>
              <a:t>010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A9423-6E56-43CC-802A-C3483A94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620"/>
                </a:solidFill>
              </a:defRPr>
            </a:pPr>
            <a:r>
              <a:rPr sz="3000" b="1">
                <a:solidFill>
                  <a:srgbClr val="102620"/>
                </a:solidFill>
              </a:rPr>
              <a:t>Conforme à l’existant. Prêt pour la transition 2D.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D70D9-BAE2-49C7-940F-D8DB4593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6858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F8F7"/>
          </a:solidFill>
          <a:ln xmlns:a="http://schemas.openxmlformats.org/drawingml/2006/main" w="9525">
            <a:solidFill>
              <a:srgbClr val="C9D8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7A617-BCE8-4F9D-BB70-D10EFCF6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8879"/>
                </a:solidFill>
              </a:defRPr>
            </a:pPr>
            <a:r>
              <a:rPr sz="1500" b="1">
                <a:solidFill>
                  <a:srgbClr val="078879"/>
                </a:solidFill>
              </a:rPr>
              <a:t>Traçabilité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EEFAD-CC8D-45DF-856D-AEEE1CE6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6695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620"/>
                </a:solidFill>
              </a:defRPr>
            </a:pPr>
            <a:r>
              <a:rPr sz="1200" b="0">
                <a:solidFill>
                  <a:srgbClr val="102620"/>
                </a:solidFill>
              </a:rPr>
              <a:t>Le règlement (CE) 178/2002 impose la capacité de retrouver et de mettre les informations à disposition.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54708-B4A0-4BF7-8850-9929444F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6858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F8F7"/>
          </a:solidFill>
          <a:ln xmlns:a="http://schemas.openxmlformats.org/drawingml/2006/main" w="9525">
            <a:solidFill>
              <a:srgbClr val="C9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89972-8902-4F02-91BB-D547E364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8879"/>
                </a:solidFill>
              </a:defRPr>
            </a:pPr>
            <a:r>
              <a:rPr sz="1500" b="1">
                <a:solidFill>
                  <a:srgbClr val="078879"/>
                </a:solidFill>
              </a:rPr>
              <a:t>Produits de la pêche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1B66D-3A9A-4315-AEED-D254FCA4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0995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620"/>
                </a:solidFill>
              </a:defRPr>
            </a:pPr>
            <a:r>
              <a:rPr sz="1200" b="0">
                <a:solidFill>
                  <a:srgbClr val="102620"/>
                </a:solidFill>
              </a:rPr>
              <a:t>Le règlement (UE) 1379/2013 encadre les informations obligatoires applicables.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3E6E7-E8BA-4D72-922A-33F059A5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6858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F8F7"/>
          </a:solidFill>
          <a:ln xmlns:a="http://schemas.openxmlformats.org/drawingml/2006/main" w="9525">
            <a:solidFill>
              <a:srgbClr val="C9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09799-506C-4B53-9795-7021A0CB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8879"/>
                </a:solidFill>
              </a:defRPr>
            </a:pPr>
            <a:r>
              <a:rPr sz="1500" b="1">
                <a:solidFill>
                  <a:srgbClr val="078879"/>
                </a:solidFill>
              </a:rPr>
              <a:t>Codes 2D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41BE1E-A2A3-485E-9636-A88C928D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5295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620"/>
                </a:solidFill>
              </a:defRPr>
            </a:pPr>
            <a:r>
              <a:rPr sz="1200" b="0">
                <a:solidFill>
                  <a:srgbClr val="102620"/>
                </a:solidFill>
              </a:rPr>
              <a:t>Objectif GS1 : adoption généralisée en point de vente d’ici fin 2027.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504DA-069C-420F-A1CC-3F83FFDF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3295650" cy="3181350"/>
          </a:xfrm>
          <a:prstGeom xmlns:a="http://schemas.openxmlformats.org/drawingml/2006/main" prst="roundRect">
            <a:avLst>
              <a:gd name="adj" fmla="val 6587"/>
            </a:avLst>
          </a:prstGeom>
          <a:solidFill xmlns:a="http://schemas.openxmlformats.org/drawingml/2006/main">
            <a:srgbClr val="112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40BCA-914D-4159-B823-5B243C4B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19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LabelScan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2C801-34CF-4D70-A476-D0271EE4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E5DD"/>
                </a:solidFill>
              </a:defRPr>
            </a:pPr>
            <a:r>
              <a:rPr sz="1650" b="0">
                <a:solidFill>
                  <a:srgbClr val="C8E5DD"/>
                </a:solidFill>
              </a:rPr>
              <a:t>lit directement le GS1</a:t>
            </a:r>
          </a:p>
          <a:p xmlns:a="http://schemas.openxmlformats.org/drawingml/2006/main">
            <a:pPr algn="l">
              <a:defRPr sz="1650" b="0">
                <a:solidFill>
                  <a:srgbClr val="C8E5DD"/>
                </a:solidFill>
              </a:defRPr>
            </a:pPr>
            <a:r>
              <a:rPr sz="1650" b="0">
                <a:solidFill>
                  <a:srgbClr val="C8E5DD"/>
                </a:solidFill>
              </a:rPr>
              <a:t>lorsque le code est présent,</a:t>
            </a:r>
          </a:p>
          <a:p xmlns:a="http://schemas.openxmlformats.org/drawingml/2006/main">
            <a:pPr algn="l">
              <a:defRPr sz="1650" b="0">
                <a:solidFill>
                  <a:srgbClr val="C8E5DD"/>
                </a:solidFill>
              </a:defRPr>
            </a:pPr>
            <a:r>
              <a:rPr sz="1650" b="0">
                <a:solidFill>
                  <a:srgbClr val="C8E5DD"/>
                </a:solidFill>
              </a:rPr>
              <a:t>et traite aussi le parc</a:t>
            </a:r>
          </a:p>
          <a:p xmlns:a="http://schemas.openxmlformats.org/drawingml/2006/main">
            <a:pPr algn="l">
              <a:defRPr sz="1650" b="0">
                <a:solidFill>
                  <a:srgbClr val="C8E5DD"/>
                </a:solidFill>
              </a:defRPr>
            </a:pPr>
            <a:r>
              <a:rPr sz="1650" b="0">
                <a:solidFill>
                  <a:srgbClr val="C8E5DD"/>
                </a:solidFill>
              </a:rPr>
              <a:t>d’étiquettes existant.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4299E7-D419-463F-926D-307FE486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767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Droits d’accès · isolation des magasins · preuve originale · journal d’audit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825B4B-0AE4-43C8-A646-6095CF5B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8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34700-8F21-4E2C-95BA-BF6D6ADF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D69"/>
                </a:solidFill>
              </a:defRPr>
            </a:pPr>
            <a:r>
              <a:rPr sz="900" b="0">
                <a:solidFill>
                  <a:srgbClr val="5D6D69"/>
                </a:solidFill>
              </a:rPr>
              <a:t>LabelScan · Traçabilité alimentaire</a:t>
            </a:r>
          </a:p>
        </p:txBody>
      </p:sp>
    </p:spTree>
    <p:extLst>
      <p:ext uri="{BB962C8B-B14F-4D97-AF65-F5344CB8AC3E}">
        <p14:creationId xmlns:p14="http://schemas.microsoft.com/office/powerpoint/2010/main" val="16331316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E8418-5691-4F19-86E8-A2D82831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879"/>
                </a:solidFill>
              </a:defRPr>
            </a:pPr>
            <a:r>
              <a:rPr sz="1125" b="1">
                <a:solidFill>
                  <a:srgbClr val="078879"/>
                </a:solidFill>
              </a:rPr>
              <a:t>PROCHAINE ÉTAPE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6D0E1-A9D0-4956-A3DD-8DDD80A2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D69"/>
                </a:solidFill>
              </a:defRPr>
            </a:pPr>
            <a:r>
              <a:rPr sz="1125" b="1">
                <a:solidFill>
                  <a:srgbClr val="5D6D69"/>
                </a:solidFill>
              </a:rPr>
              <a:t>011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D3BA4-D0D4-4B0B-B250-A154F48F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620"/>
                </a:solidFill>
              </a:defRPr>
            </a:pPr>
            <a:r>
              <a:rPr sz="3000" b="1">
                <a:solidFill>
                  <a:srgbClr val="102620"/>
                </a:solidFill>
              </a:rPr>
              <a:t>Un pilote mesuré, avant le passage à l’échelle.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BBB14-B669-449B-9AE5-23429A1C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8879"/>
                </a:solidFill>
              </a:defRPr>
            </a:pPr>
            <a:r>
              <a:rPr sz="2250" b="1">
                <a:solidFill>
                  <a:srgbClr val="078879"/>
                </a:solidFill>
              </a:rPr>
              <a:t>4 semaines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F8F0B-A82A-4F66-A9C3-083BFD3C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887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3C932-0B03-4153-A08E-04E27EC5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620"/>
                </a:solidFill>
              </a:defRPr>
            </a:pPr>
            <a:r>
              <a:rPr sz="1575" b="0">
                <a:solidFill>
                  <a:srgbClr val="102620"/>
                </a:solidFill>
              </a:rPr>
              <a:t>sur deux magasins et plusieurs fournisseurs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FD76B-E07B-4672-BD2E-76F534F9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336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8879"/>
                </a:solidFill>
              </a:defRPr>
            </a:pPr>
            <a:r>
              <a:rPr sz="2250" b="1">
                <a:solidFill>
                  <a:srgbClr val="078879"/>
                </a:solidFill>
              </a:rPr>
              <a:t>Avant / après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99DE6-4543-4DCC-A9E2-08CE3720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765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88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06981-4045-474A-AC73-3773CBEA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432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620"/>
                </a:solidFill>
              </a:defRPr>
            </a:pPr>
            <a:r>
              <a:rPr sz="1575" b="0">
                <a:solidFill>
                  <a:srgbClr val="102620"/>
                </a:solidFill>
              </a:rPr>
              <a:t>comparaison du processus papier et LabelScan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CFE99-2E2C-409F-9DDB-C6989E67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336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8879"/>
                </a:solidFill>
              </a:defRPr>
            </a:pPr>
            <a:r>
              <a:rPr sz="2250" b="1">
                <a:solidFill>
                  <a:srgbClr val="078879"/>
                </a:solidFill>
              </a:rPr>
              <a:t>4 critères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5C3AE-2271-4CD2-AA3A-88D3CF64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765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88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63F87-05CF-4D61-9627-58C72F18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432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620"/>
                </a:solidFill>
              </a:defRPr>
            </a:pPr>
            <a:r>
              <a:rPr sz="1575" b="0">
                <a:solidFill>
                  <a:srgbClr val="102620"/>
                </a:solidFill>
              </a:rPr>
              <a:t>temps · exactitude · délai lot · ROI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BF878-BB12-4EE6-ACA1-78FB23C1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620"/>
                </a:solidFill>
              </a:defRPr>
            </a:pPr>
            <a:r>
              <a:rPr sz="2100" b="1">
                <a:solidFill>
                  <a:srgbClr val="102620"/>
                </a:solidFill>
              </a:rPr>
              <a:t>Le pilote transformera les hypothèses en résultats opposables.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4BD95-8977-4A83-A59B-098C3004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8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DEEC3-2C51-4170-82AA-F769CCD0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341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D69"/>
                </a:solidFill>
              </a:defRPr>
            </a:pPr>
            <a:r>
              <a:rPr sz="900" b="0">
                <a:solidFill>
                  <a:srgbClr val="5D6D69"/>
                </a:solidFill>
              </a:rPr>
              <a:t>LabelScan · Traçabilité alimentaire</a:t>
            </a:r>
          </a:p>
        </p:txBody>
      </p:sp>
    </p:spTree>
    <p:extLst>
      <p:ext uri="{BB962C8B-B14F-4D97-AF65-F5344CB8AC3E}">
        <p14:creationId xmlns:p14="http://schemas.microsoft.com/office/powerpoint/2010/main" val="5244084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2D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49f8bada541c4"/>
          <a:stretch xmlns:a="http://schemas.openxmlformats.org/drawingml/2006/main"/>
        </p:blipFill>
        <p:spPr>
          <a:xfrm xmlns:a="http://schemas.openxmlformats.org/drawingml/2006/main">
            <a:off x="723900" y="685800"/>
            <a:ext cx="876300" cy="876300"/>
          </a:xfrm>
          <a:prstGeom xmlns:a="http://schemas.openxmlformats.org/drawingml/2006/main" prst="roundRect">
            <a:avLst>
              <a:gd name="adj" fmla="val 17391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1547B-F7E3-4154-9BB4-9DF1CA4D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Moins de saisie.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70067-49AA-46FC-B734-C543CE69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Plus de visibilité.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398EC-E678-4543-95EF-CEC31924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C8E5DD"/>
                </a:solidFill>
              </a:defRPr>
            </a:pPr>
            <a:r>
              <a:rPr sz="2625" b="1">
                <a:solidFill>
                  <a:srgbClr val="C8E5DD"/>
                </a:solidFill>
              </a:rPr>
              <a:t>Une traçabilité exploitable en cas de crise.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B76B3-96B9-4783-841E-F63ECD4F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4857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00E25-BE27-43A0-8546-5501551B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17 champs structurés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E3B9C-5A9E-4006-81C4-DAB927CB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48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71–82 % préremplis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6EC03-E411-4000-BCD1-789B4C43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48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~10 s favorables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E81F4-9C63-4D8B-A422-F490D97C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48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&lt; 0,01 € / étiquette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FE538-83A5-4E0E-9DAD-8A2C9D24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8E5DD"/>
                </a:solidFill>
              </a:defRPr>
            </a:pPr>
            <a:r>
              <a:rPr sz="1800" b="0">
                <a:solidFill>
                  <a:srgbClr val="C8E5DD"/>
                </a:solidFill>
              </a:rPr>
              <a:t>Proposition : lancer le pilote sur deux magasins.</a:t>
            </a:r>
          </a:p>
        </p:txBody>
      </p:sp>
    </p:spTree>
    <p:extLst>
      <p:ext uri="{BB962C8B-B14F-4D97-AF65-F5344CB8AC3E}">
        <p14:creationId xmlns:p14="http://schemas.microsoft.com/office/powerpoint/2010/main" val="6703133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2026-08-17T12:50:58.4320000Z</dcterms:created>
  <dcterms:modified xsi:type="dcterms:W3CDTF">2026-08-17T12:50:58.4320000Z</dcterms:modified>
</coreProperties>
</file>